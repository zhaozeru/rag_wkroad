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323" r:id="rId4"/>
    <p:sldId id="298" r:id="rId5"/>
    <p:sldId id="330" r:id="rId6"/>
    <p:sldId id="331" r:id="rId7"/>
    <p:sldId id="326" r:id="rId8"/>
    <p:sldId id="327" r:id="rId9"/>
    <p:sldId id="329" r:id="rId10"/>
    <p:sldId id="269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5C03"/>
    <a:srgbClr val="B88B05"/>
    <a:srgbClr val="B8C2BA"/>
    <a:srgbClr val="6B8B80"/>
    <a:srgbClr val="516F6E"/>
    <a:srgbClr val="CCB18A"/>
    <a:srgbClr val="B79159"/>
    <a:srgbClr val="4C6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6" autoAdjust="0"/>
    <p:restoredTop sz="96318" autoAdjust="0"/>
  </p:normalViewPr>
  <p:slideViewPr>
    <p:cSldViewPr snapToGrid="0" showGuides="1">
      <p:cViewPr varScale="1">
        <p:scale>
          <a:sx n="115" d="100"/>
          <a:sy n="115" d="100"/>
        </p:scale>
        <p:origin x="1670" y="96"/>
      </p:cViewPr>
      <p:guideLst>
        <p:guide orient="horz" pos="2153"/>
        <p:guide pos="381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B0ABF-FFB1-4593-B271-1D5408A92DDB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6228D-EC70-4DED-9C39-8EE58BC3AC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8482883" y="400717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A504F-ED1A-4212-8D17-CEBD940E4721}" type="datetimeFigureOut">
              <a:rPr lang="zh-CN" altLang="en-US" smtClean="0"/>
              <a:t>2024/8/22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86612-A4CC-46D6-A420-CAFA3FA06A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050" y="787400"/>
            <a:ext cx="4828540" cy="6298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586355" y="0"/>
            <a:ext cx="76200" cy="153219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70441" y="-471805"/>
            <a:ext cx="7389814" cy="7255453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7003415" y="918845"/>
            <a:ext cx="2750295" cy="3890285"/>
            <a:chOff x="7010" y="1133"/>
            <a:chExt cx="3218" cy="4808"/>
          </a:xfrm>
        </p:grpSpPr>
        <p:sp>
          <p:nvSpPr>
            <p:cNvPr id="6" name="文本框 5"/>
            <p:cNvSpPr txBox="1"/>
            <p:nvPr/>
          </p:nvSpPr>
          <p:spPr>
            <a:xfrm>
              <a:off x="7010" y="1133"/>
              <a:ext cx="1771" cy="1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600" dirty="0">
                  <a:solidFill>
                    <a:srgbClr val="4B4A5A"/>
                  </a:solidFill>
                  <a:latin typeface="华文中宋" panose="02010600040101010101" charset="-122"/>
                  <a:ea typeface="华文中宋" panose="02010600040101010101" charset="-122"/>
                  <a:cs typeface="+mn-ea"/>
                  <a:sym typeface="+mn-lt"/>
                </a:rPr>
                <a:t>武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8222" y="2009"/>
              <a:ext cx="1771" cy="1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0" dirty="0">
                  <a:solidFill>
                    <a:srgbClr val="4B4A5A"/>
                  </a:solidFill>
                  <a:latin typeface="华文中宋" panose="02010600040101010101" charset="-122"/>
                  <a:ea typeface="华文中宋" panose="02010600040101010101" charset="-122"/>
                  <a:cs typeface="+mn-ea"/>
                  <a:sym typeface="+mn-lt"/>
                </a:rPr>
                <a:t>康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321" y="3134"/>
              <a:ext cx="1771" cy="1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600">
                  <a:solidFill>
                    <a:srgbClr val="4B4A5A"/>
                  </a:solidFill>
                  <a:latin typeface="华文中宋" panose="02010600040101010101" charset="-122"/>
                  <a:ea typeface="华文中宋" panose="02010600040101010101" charset="-122"/>
                  <a:cs typeface="+mn-ea"/>
                  <a:sym typeface="+mn-lt"/>
                </a:rPr>
                <a:t>遗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457" y="4003"/>
              <a:ext cx="1771" cy="1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600">
                  <a:solidFill>
                    <a:srgbClr val="4B4A5A"/>
                  </a:solidFill>
                  <a:latin typeface="华文中宋" panose="02010600040101010101" charset="-122"/>
                  <a:ea typeface="华文中宋" panose="02010600040101010101" charset="-122"/>
                  <a:cs typeface="+mn-ea"/>
                  <a:sym typeface="+mn-lt"/>
                </a:rPr>
                <a:t>风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776645">
            <a:off x="371175" y="1441928"/>
            <a:ext cx="9715073" cy="953843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 flipH="1">
            <a:off x="5232608" y="33292"/>
            <a:ext cx="6963286" cy="6858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228714" y="18000"/>
            <a:ext cx="31667" cy="684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200" y="1518539"/>
            <a:ext cx="4107387" cy="53574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 rot="5400000">
            <a:off x="-1947536" y="2767279"/>
            <a:ext cx="6231255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 i="1">
                <a:solidFill>
                  <a:srgbClr val="B88B05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en-US" altLang="zh-CN" sz="8000" i="0" dirty="0">
                <a:latin typeface="Georgia" panose="02040502050405020303" charset="0"/>
                <a:ea typeface="汉仪劲楷简" panose="00020600040101010101" charset="-122"/>
                <a:cs typeface="+mn-ea"/>
                <a:sym typeface="+mn-lt"/>
              </a:rPr>
              <a:t>CONTENTS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206248" y="273843"/>
            <a:ext cx="5180013" cy="760413"/>
            <a:chOff x="6135687" y="725487"/>
            <a:chExt cx="5180013" cy="760413"/>
          </a:xfrm>
        </p:grpSpPr>
        <p:sp>
          <p:nvSpPr>
            <p:cNvPr id="16" name="矩形: 圆角 15"/>
            <p:cNvSpPr/>
            <p:nvPr/>
          </p:nvSpPr>
          <p:spPr>
            <a:xfrm>
              <a:off x="6210300" y="832582"/>
              <a:ext cx="5105400" cy="56549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B79159"/>
                </a:gs>
              </a:gsLst>
              <a:lin ang="2160000" scaled="0"/>
            </a:grad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566571" y="88799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作品概述</a:t>
              </a: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6135687" y="725487"/>
              <a:ext cx="760413" cy="760413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6181506" y="813304"/>
              <a:ext cx="6070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01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206248" y="1207204"/>
            <a:ext cx="5186680" cy="753110"/>
            <a:chOff x="5763532" y="725487"/>
            <a:chExt cx="5552168" cy="760413"/>
          </a:xfrm>
        </p:grpSpPr>
        <p:sp>
          <p:nvSpPr>
            <p:cNvPr id="21" name="矩形: 圆角 20"/>
            <p:cNvSpPr/>
            <p:nvPr/>
          </p:nvSpPr>
          <p:spPr>
            <a:xfrm>
              <a:off x="6210300" y="832582"/>
              <a:ext cx="5105400" cy="56549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B79159"/>
                </a:gs>
              </a:gsLst>
              <a:lin ang="2160000" scaled="0"/>
            </a:grad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368413" y="887700"/>
              <a:ext cx="3171016" cy="464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解决的问题</a:t>
              </a: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5764212" y="725487"/>
              <a:ext cx="760413" cy="760413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5763532" y="832560"/>
              <a:ext cx="1190916" cy="562936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3200" dirty="0">
                  <a:solidFill>
                    <a:schemeClr val="bg1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206248" y="2167000"/>
            <a:ext cx="5180013" cy="760413"/>
            <a:chOff x="6135687" y="725487"/>
            <a:chExt cx="5180013" cy="760413"/>
          </a:xfrm>
        </p:grpSpPr>
        <p:sp>
          <p:nvSpPr>
            <p:cNvPr id="26" name="矩形: 圆角 25"/>
            <p:cNvSpPr/>
            <p:nvPr/>
          </p:nvSpPr>
          <p:spPr>
            <a:xfrm>
              <a:off x="6210300" y="832582"/>
              <a:ext cx="5105400" cy="56549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B79159"/>
                </a:gs>
              </a:gsLst>
              <a:lin ang="2160000" scaled="0"/>
            </a:grad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675562" y="895032"/>
              <a:ext cx="266128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技术实现方案</a:t>
              </a: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6135687" y="725487"/>
              <a:ext cx="760413" cy="760413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6181506" y="813304"/>
              <a:ext cx="65659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239942" y="3172819"/>
            <a:ext cx="5180013" cy="760413"/>
            <a:chOff x="6135687" y="725487"/>
            <a:chExt cx="5180013" cy="760413"/>
          </a:xfrm>
        </p:grpSpPr>
        <p:sp>
          <p:nvSpPr>
            <p:cNvPr id="31" name="矩形: 圆角 30"/>
            <p:cNvSpPr/>
            <p:nvPr/>
          </p:nvSpPr>
          <p:spPr>
            <a:xfrm>
              <a:off x="6210300" y="832582"/>
              <a:ext cx="5105400" cy="56549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B79159"/>
                </a:gs>
              </a:gsLst>
              <a:lin ang="2160000" scaled="0"/>
            </a:grad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566571" y="887992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数据使用情况</a:t>
              </a:r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6135687" y="725487"/>
              <a:ext cx="760413" cy="760413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6181506" y="813304"/>
              <a:ext cx="662305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60BC5CE-E031-37EE-F991-14F11A946014}"/>
              </a:ext>
            </a:extLst>
          </p:cNvPr>
          <p:cNvGrpSpPr/>
          <p:nvPr/>
        </p:nvGrpSpPr>
        <p:grpSpPr>
          <a:xfrm>
            <a:off x="6217663" y="4204481"/>
            <a:ext cx="5180013" cy="760413"/>
            <a:chOff x="6135687" y="725487"/>
            <a:chExt cx="5180013" cy="760413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6C678D3-E3F6-9FAB-653D-583E44FA544D}"/>
                </a:ext>
              </a:extLst>
            </p:cNvPr>
            <p:cNvSpPr/>
            <p:nvPr/>
          </p:nvSpPr>
          <p:spPr>
            <a:xfrm>
              <a:off x="6210300" y="832582"/>
              <a:ext cx="5105400" cy="56549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B79159"/>
                </a:gs>
              </a:gsLst>
              <a:lin ang="2160000" scaled="0"/>
            </a:grad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2BB3DD7-841B-031A-D3D6-D26A06E99B3A}"/>
                </a:ext>
              </a:extLst>
            </p:cNvPr>
            <p:cNvSpPr txBox="1"/>
            <p:nvPr/>
          </p:nvSpPr>
          <p:spPr>
            <a:xfrm>
              <a:off x="7566571" y="887992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创新点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637C598-E98A-726E-1125-48C20B678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6135687" y="725487"/>
              <a:ext cx="760413" cy="760413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571697C-0DAF-2FB5-6C78-E13430FF20E4}"/>
                </a:ext>
              </a:extLst>
            </p:cNvPr>
            <p:cNvSpPr txBox="1"/>
            <p:nvPr/>
          </p:nvSpPr>
          <p:spPr>
            <a:xfrm>
              <a:off x="6181506" y="813304"/>
              <a:ext cx="65274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C14CDEF-407E-0238-C788-D37190601DF7}"/>
              </a:ext>
            </a:extLst>
          </p:cNvPr>
          <p:cNvGrpSpPr/>
          <p:nvPr/>
        </p:nvGrpSpPr>
        <p:grpSpPr>
          <a:xfrm>
            <a:off x="6243888" y="5217130"/>
            <a:ext cx="5180013" cy="760413"/>
            <a:chOff x="6135687" y="725487"/>
            <a:chExt cx="5180013" cy="760413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A696CE4-5635-3892-A6D0-F678AB11296C}"/>
                </a:ext>
              </a:extLst>
            </p:cNvPr>
            <p:cNvSpPr/>
            <p:nvPr/>
          </p:nvSpPr>
          <p:spPr>
            <a:xfrm>
              <a:off x="6210300" y="832582"/>
              <a:ext cx="5105400" cy="56549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B79159"/>
                </a:gs>
              </a:gsLst>
              <a:lin ang="2160000" scaled="0"/>
            </a:grad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E601CFF-0B93-9046-082F-F83F03763F4B}"/>
                </a:ext>
              </a:extLst>
            </p:cNvPr>
            <p:cNvSpPr txBox="1"/>
            <p:nvPr/>
          </p:nvSpPr>
          <p:spPr>
            <a:xfrm>
              <a:off x="7566571" y="88799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潜在价值</a:t>
              </a:r>
            </a:p>
          </p:txBody>
        </p:sp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99F8D1FF-3B15-5D8D-C34A-A18C90FFB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6135687" y="725487"/>
              <a:ext cx="760413" cy="760413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2AB2FC-D31A-78DB-752C-A7A783AC48E3}"/>
                </a:ext>
              </a:extLst>
            </p:cNvPr>
            <p:cNvSpPr txBox="1"/>
            <p:nvPr/>
          </p:nvSpPr>
          <p:spPr>
            <a:xfrm>
              <a:off x="6181506" y="813304"/>
              <a:ext cx="6687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04838">
            <a:off x="-1277183" y="-1723939"/>
            <a:ext cx="4040617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-1180742" y="638175"/>
            <a:ext cx="13373026" cy="5758815"/>
            <a:chOff x="-6209591" y="638175"/>
            <a:chExt cx="13373026" cy="5758815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209591" y="857250"/>
              <a:ext cx="5238750" cy="5143500"/>
            </a:xfrm>
            <a:prstGeom prst="rect">
              <a:avLst/>
            </a:prstGeom>
          </p:spPr>
        </p:pic>
        <p:sp>
          <p:nvSpPr>
            <p:cNvPr id="33" name="矩形: 圆角 32"/>
            <p:cNvSpPr/>
            <p:nvPr/>
          </p:nvSpPr>
          <p:spPr>
            <a:xfrm>
              <a:off x="-3601011" y="638175"/>
              <a:ext cx="9950450" cy="5410200"/>
            </a:xfrm>
            <a:prstGeom prst="roundRect">
              <a:avLst>
                <a:gd name="adj" fmla="val 12346"/>
              </a:avLst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3" cstate="screen"/>
            <a:srcRect l="20101" t="12797" r="9965" b="45797"/>
            <a:stretch>
              <a:fillRect/>
            </a:stretch>
          </p:blipFill>
          <p:spPr>
            <a:xfrm>
              <a:off x="5290779" y="5007388"/>
              <a:ext cx="1872656" cy="1088612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-2940611" y="1139825"/>
              <a:ext cx="259715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1 </a:t>
              </a:r>
              <a:r>
                <a:rPr lang="zh-CN" altLang="en-US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作品简介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-3110156" y="1837055"/>
              <a:ext cx="8677275" cy="45599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24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项目名称：</a:t>
              </a:r>
              <a:r>
                <a:rPr lang="en-US" altLang="zh-CN" sz="24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“</a:t>
              </a:r>
              <a:r>
                <a:rPr lang="zh-CN" altLang="en-US" sz="24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武康遗风</a:t>
              </a:r>
              <a:r>
                <a:rPr lang="en-US" altLang="zh-CN" sz="24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”——</a:t>
              </a:r>
              <a:r>
                <a:rPr lang="en-US" altLang="zh-CN" sz="2400" dirty="0" err="1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武康路故居沉浸式旅游体验平台</a:t>
              </a:r>
              <a:endParaRPr lang="en-US" altLang="zh-CN" sz="24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武康路故居具有历史文化遗址的独特性和重要性，其承载着传承和弘扬历史文化的使命和责任。它像一座桥梁，连接着过去与现在，让游客在沉浸式的体验中，不仅能够感受到武康路故居的历史魅力，还能够深刻领会到中华文化的博大精深和源远流长。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altLang="zh-CN" sz="24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24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项目功能构成：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时光轨迹、故事地图、知识图谱、沉浸之旅、武康文创。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altLang="zh-CN" sz="24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24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项目特色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本网站精心汇集了武康路故居的详尽介绍，通过生动的时间轴展示关键历史事件，让历史的脉络一目了然；创新性地推出故事地图，引导游客穿梭于时空之间亲身体验历史的变迁。运用知识图谱技术，将相关知识体系化、可视化呈现，此外，本网站提供了前所未有的沉浸式游览体验，让您仿佛置身于历史现场，感受那份穿越时空的震撼。同时，网站还展示了独具特色的文创产品，将传统与现代完美融合，让文化的传承与发扬触手可及。</a:t>
              </a: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-3109595" y="1705610"/>
              <a:ext cx="2295525" cy="0"/>
            </a:xfrm>
            <a:prstGeom prst="line">
              <a:avLst/>
            </a:prstGeom>
            <a:ln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04838">
            <a:off x="3184359" y="-1726657"/>
            <a:ext cx="4040617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 rot="2689798">
            <a:off x="4474845" y="1623060"/>
            <a:ext cx="3455670" cy="423164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436562" y="1066331"/>
            <a:ext cx="5145088" cy="903426"/>
            <a:chOff x="436562" y="1066331"/>
            <a:chExt cx="5145088" cy="903426"/>
          </a:xfrm>
        </p:grpSpPr>
        <p:sp>
          <p:nvSpPr>
            <p:cNvPr id="4" name="文本框 3"/>
            <p:cNvSpPr txBox="1"/>
            <p:nvPr/>
          </p:nvSpPr>
          <p:spPr>
            <a:xfrm>
              <a:off x="1335087" y="1066331"/>
              <a:ext cx="338931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7B5C03"/>
                  </a:solidFill>
                  <a:latin typeface="Georgia" panose="02040502050405020303" charset="0"/>
                  <a:ea typeface="汉仪劲楷简" panose="00020600040101010101" charset="-122"/>
                  <a:cs typeface="+mn-ea"/>
                  <a:sym typeface="+mn-lt"/>
                </a:rPr>
                <a:t>时光轨迹</a:t>
              </a:r>
            </a:p>
          </p:txBody>
        </p:sp>
        <p:cxnSp>
          <p:nvCxnSpPr>
            <p:cNvPr id="8" name="直接连接符 7"/>
            <p:cNvCxnSpPr/>
            <p:nvPr/>
          </p:nvCxnSpPr>
          <p:spPr>
            <a:xfrm flipH="1">
              <a:off x="942975" y="1620329"/>
              <a:ext cx="4638675" cy="0"/>
            </a:xfrm>
            <a:prstGeom prst="line">
              <a:avLst/>
            </a:prstGeom>
            <a:ln w="12700"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436562" y="1209344"/>
              <a:ext cx="760413" cy="760413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482381" y="1297161"/>
              <a:ext cx="6399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82381" y="2951705"/>
            <a:ext cx="5145088" cy="933017"/>
            <a:chOff x="436562" y="1036740"/>
            <a:chExt cx="5145088" cy="933017"/>
          </a:xfrm>
        </p:grpSpPr>
        <p:sp>
          <p:nvSpPr>
            <p:cNvPr id="11" name="文本框 10"/>
            <p:cNvSpPr txBox="1"/>
            <p:nvPr/>
          </p:nvSpPr>
          <p:spPr>
            <a:xfrm>
              <a:off x="1288648" y="1036740"/>
              <a:ext cx="3031508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7B5C03"/>
                  </a:solidFill>
                  <a:latin typeface="Georgia" panose="02040502050405020303" charset="0"/>
                  <a:ea typeface="汉仪劲楷简" panose="00020600040101010101" charset="-122"/>
                  <a:cs typeface="+mn-ea"/>
                  <a:sym typeface="+mn-lt"/>
                </a:rPr>
                <a:t>故事地图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942975" y="1620329"/>
              <a:ext cx="4638675" cy="0"/>
            </a:xfrm>
            <a:prstGeom prst="line">
              <a:avLst/>
            </a:prstGeom>
            <a:ln w="12700"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436562" y="1209344"/>
              <a:ext cx="760413" cy="76041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482381" y="1297161"/>
              <a:ext cx="6399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 flipH="1">
            <a:off x="6346398" y="1915564"/>
            <a:ext cx="5145088" cy="903426"/>
            <a:chOff x="436562" y="1066331"/>
            <a:chExt cx="5145088" cy="903426"/>
          </a:xfrm>
        </p:grpSpPr>
        <p:sp>
          <p:nvSpPr>
            <p:cNvPr id="16" name="文本框 15"/>
            <p:cNvSpPr txBox="1"/>
            <p:nvPr/>
          </p:nvSpPr>
          <p:spPr>
            <a:xfrm>
              <a:off x="1335087" y="1066331"/>
              <a:ext cx="338931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7B5C03"/>
                  </a:solidFill>
                  <a:latin typeface="Georgia" panose="02040502050405020303" charset="0"/>
                  <a:ea typeface="汉仪劲楷简" panose="00020600040101010101" charset="-122"/>
                  <a:cs typeface="+mn-ea"/>
                  <a:sym typeface="+mn-lt"/>
                </a:rPr>
                <a:t>沉浸之旅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 flipH="1">
              <a:off x="942975" y="1620329"/>
              <a:ext cx="4638675" cy="0"/>
            </a:xfrm>
            <a:prstGeom prst="line">
              <a:avLst/>
            </a:prstGeom>
            <a:ln w="12700"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436562" y="1209344"/>
              <a:ext cx="760413" cy="760413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511235" y="1297161"/>
              <a:ext cx="63500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 flipH="1">
            <a:off x="6345888" y="4044515"/>
            <a:ext cx="5145088" cy="903426"/>
            <a:chOff x="436562" y="1066331"/>
            <a:chExt cx="5145088" cy="903426"/>
          </a:xfrm>
        </p:grpSpPr>
        <p:sp>
          <p:nvSpPr>
            <p:cNvPr id="21" name="文本框 20"/>
            <p:cNvSpPr txBox="1"/>
            <p:nvPr/>
          </p:nvSpPr>
          <p:spPr>
            <a:xfrm>
              <a:off x="1335087" y="1066331"/>
              <a:ext cx="325374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3200" dirty="0">
                  <a:solidFill>
                    <a:srgbClr val="7B5C03"/>
                  </a:solidFill>
                  <a:latin typeface="Georgia" panose="02040502050405020303" charset="0"/>
                  <a:ea typeface="汉仪劲楷简" panose="00020600040101010101" charset="-122"/>
                  <a:cs typeface="+mn-ea"/>
                  <a:sym typeface="+mn-lt"/>
                </a:rPr>
                <a:t>文创印记</a:t>
              </a:r>
            </a:p>
          </p:txBody>
        </p:sp>
        <p:cxnSp>
          <p:nvCxnSpPr>
            <p:cNvPr id="22" name="直接连接符 21"/>
            <p:cNvCxnSpPr/>
            <p:nvPr/>
          </p:nvCxnSpPr>
          <p:spPr>
            <a:xfrm flipH="1">
              <a:off x="942975" y="1620329"/>
              <a:ext cx="4638675" cy="0"/>
            </a:xfrm>
            <a:prstGeom prst="line">
              <a:avLst/>
            </a:prstGeom>
            <a:ln w="12700"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436562" y="1209344"/>
              <a:ext cx="760413" cy="760413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511235" y="1297161"/>
              <a:ext cx="63500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28637" y="5007776"/>
            <a:ext cx="5145088" cy="903426"/>
            <a:chOff x="436562" y="1066331"/>
            <a:chExt cx="5145088" cy="903426"/>
          </a:xfrm>
        </p:grpSpPr>
        <p:sp>
          <p:nvSpPr>
            <p:cNvPr id="28" name="文本框 27"/>
            <p:cNvSpPr txBox="1"/>
            <p:nvPr/>
          </p:nvSpPr>
          <p:spPr>
            <a:xfrm>
              <a:off x="1335087" y="1066331"/>
              <a:ext cx="338931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7B5C03"/>
                  </a:solidFill>
                  <a:latin typeface="Georgia" panose="02040502050405020303" charset="0"/>
                  <a:ea typeface="汉仪劲楷简" panose="00020600040101010101" charset="-122"/>
                  <a:cs typeface="+mn-ea"/>
                  <a:sym typeface="+mn-lt"/>
                </a:rPr>
                <a:t>知识图谱</a:t>
              </a:r>
            </a:p>
          </p:txBody>
        </p:sp>
        <p:cxnSp>
          <p:nvCxnSpPr>
            <p:cNvPr id="29" name="直接连接符 28"/>
            <p:cNvCxnSpPr/>
            <p:nvPr/>
          </p:nvCxnSpPr>
          <p:spPr>
            <a:xfrm flipH="1">
              <a:off x="942975" y="1620329"/>
              <a:ext cx="4638675" cy="0"/>
            </a:xfrm>
            <a:prstGeom prst="line">
              <a:avLst/>
            </a:prstGeom>
            <a:ln w="12700"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436562" y="1209344"/>
              <a:ext cx="760413" cy="760413"/>
            </a:xfrm>
            <a:prstGeom prst="rect">
              <a:avLst/>
            </a:prstGeom>
          </p:spPr>
        </p:pic>
        <p:sp>
          <p:nvSpPr>
            <p:cNvPr id="31" name="文本框 30"/>
            <p:cNvSpPr txBox="1"/>
            <p:nvPr/>
          </p:nvSpPr>
          <p:spPr>
            <a:xfrm>
              <a:off x="482381" y="1297161"/>
              <a:ext cx="63500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5145405" y="243205"/>
            <a:ext cx="2661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B88B05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rPr>
              <a:t>功能一览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04838">
            <a:off x="-1277183" y="-1723939"/>
            <a:ext cx="4040617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-1180742" y="638175"/>
            <a:ext cx="13373026" cy="6060440"/>
            <a:chOff x="-6209591" y="638175"/>
            <a:chExt cx="13373026" cy="6060440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209591" y="857250"/>
              <a:ext cx="5238750" cy="5143500"/>
            </a:xfrm>
            <a:prstGeom prst="rect">
              <a:avLst/>
            </a:prstGeom>
          </p:spPr>
        </p:pic>
        <p:sp>
          <p:nvSpPr>
            <p:cNvPr id="33" name="矩形: 圆角 32"/>
            <p:cNvSpPr/>
            <p:nvPr/>
          </p:nvSpPr>
          <p:spPr>
            <a:xfrm>
              <a:off x="-3601011" y="638175"/>
              <a:ext cx="9950450" cy="5410200"/>
            </a:xfrm>
            <a:prstGeom prst="roundRect">
              <a:avLst>
                <a:gd name="adj" fmla="val 12346"/>
              </a:avLst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3" cstate="screen"/>
            <a:srcRect l="20101" t="12797" r="9965" b="45797"/>
            <a:stretch>
              <a:fillRect/>
            </a:stretch>
          </p:blipFill>
          <p:spPr>
            <a:xfrm>
              <a:off x="5290779" y="5007388"/>
              <a:ext cx="1872656" cy="1088612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-2940611" y="1139825"/>
              <a:ext cx="235902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2 </a:t>
              </a:r>
              <a:r>
                <a:rPr lang="zh-CN" altLang="en-US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解决问题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-2941246" y="2138680"/>
              <a:ext cx="8677275" cy="45599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1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、网站提供的图片与信息，可以为用户提供对文化内容的深入了解。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 </a:t>
              </a:r>
            </a:p>
            <a:p>
              <a:pPr algn="l"/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2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、网站可以给用户带来更多的选择，在前往旅游前可以充分了解该地点和文化，避免理想与现实差距太大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3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、以不一样的形式和感受，引起用户的兴趣，从而带动文旅流量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-3109595" y="1705610"/>
              <a:ext cx="2295525" cy="0"/>
            </a:xfrm>
            <a:prstGeom prst="line">
              <a:avLst/>
            </a:prstGeom>
            <a:ln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92100" y="6512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0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04838">
            <a:off x="-1277183" y="-1723939"/>
            <a:ext cx="4040617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-1180742" y="638175"/>
            <a:ext cx="13373026" cy="6060440"/>
            <a:chOff x="-6209591" y="638175"/>
            <a:chExt cx="13373026" cy="6060440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209591" y="857250"/>
              <a:ext cx="5238750" cy="5143500"/>
            </a:xfrm>
            <a:prstGeom prst="rect">
              <a:avLst/>
            </a:prstGeom>
          </p:spPr>
        </p:pic>
        <p:sp>
          <p:nvSpPr>
            <p:cNvPr id="33" name="矩形: 圆角 32"/>
            <p:cNvSpPr/>
            <p:nvPr/>
          </p:nvSpPr>
          <p:spPr>
            <a:xfrm>
              <a:off x="-3601011" y="638175"/>
              <a:ext cx="9950450" cy="5410200"/>
            </a:xfrm>
            <a:prstGeom prst="roundRect">
              <a:avLst>
                <a:gd name="adj" fmla="val 12346"/>
              </a:avLst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3" cstate="screen"/>
            <a:srcRect l="20101" t="12797" r="9965" b="45797"/>
            <a:stretch>
              <a:fillRect/>
            </a:stretch>
          </p:blipFill>
          <p:spPr>
            <a:xfrm>
              <a:off x="5290779" y="5007388"/>
              <a:ext cx="1872656" cy="1088612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-2940611" y="1139825"/>
              <a:ext cx="235902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3 </a:t>
              </a:r>
              <a:r>
                <a:rPr lang="zh-CN" altLang="en-US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技术实现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-2941246" y="2138680"/>
              <a:ext cx="8677275" cy="45599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项目分为</a:t>
              </a:r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5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个组件，分别是故事地图、时光轨迹、知识图谱、沉浸之旅、武康文创。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endParaRPr lang="zh-CN" altLang="en-US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1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、网站的整体设计和实现是通过</a:t>
              </a:r>
              <a:r>
                <a:rPr lang="en-US" altLang="zh-CN" sz="1600" dirty="0" err="1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wix</a:t>
              </a:r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 studio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平台实现；数据在清理后存入</a:t>
              </a:r>
              <a:r>
                <a:rPr lang="en-US" altLang="zh-CN" sz="1600" dirty="0" err="1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mongodb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供团队使用与修改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2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、故事地图部分通过</a:t>
              </a:r>
              <a:r>
                <a:rPr lang="en-US" altLang="zh-CN" sz="1600" dirty="0" err="1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storymapJS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实现，以地图的形式展示各故居的位置和简单介绍；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3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、时光轨迹部分通过</a:t>
              </a:r>
              <a:r>
                <a:rPr lang="en-US" altLang="zh-CN" sz="1600" dirty="0" err="1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TimeLineJS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库实现，标记了各个人物生平事迹与重要事件；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4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、知识图谱部分通过</a:t>
              </a:r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vue3 +D3.js +neo4j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等技术实现，展现了故居与人物的关系和详细信息的介绍；其中的</a:t>
              </a:r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RAG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问答，采用了智谱清言的</a:t>
              </a:r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API RAG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框架结合</a:t>
              </a:r>
              <a:r>
                <a:rPr lang="en-US" altLang="zh-CN" sz="1600" dirty="0" err="1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streamlit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实现，可以针对某个故居的文档数据实现问答对话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5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、沉浸之旅我们采用了</a:t>
              </a:r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TTS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技术通过</a:t>
              </a:r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prompt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和大模型来生成介绍文本，再使用</a:t>
              </a:r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TTS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技术模拟人声，打造了一个模拟导游为用户讲解介绍的场景；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algn="l"/>
              <a:r>
                <a:rPr lang="en-US" altLang="zh-CN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6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、武康文创当中收录了武康路的文创物品和打卡印章等衍生品。</a:t>
              </a:r>
              <a:endParaRPr lang="en-US" altLang="zh-CN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-3109595" y="1705610"/>
              <a:ext cx="2295525" cy="0"/>
            </a:xfrm>
            <a:prstGeom prst="line">
              <a:avLst/>
            </a:prstGeom>
            <a:ln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92100" y="6512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25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04838">
            <a:off x="-1277183" y="-1723939"/>
            <a:ext cx="4040617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-1180742" y="638175"/>
            <a:ext cx="13373026" cy="5978913"/>
            <a:chOff x="-6209591" y="638175"/>
            <a:chExt cx="13373026" cy="5978913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209591" y="857250"/>
              <a:ext cx="5238750" cy="5143500"/>
            </a:xfrm>
            <a:prstGeom prst="rect">
              <a:avLst/>
            </a:prstGeom>
          </p:spPr>
        </p:pic>
        <p:sp>
          <p:nvSpPr>
            <p:cNvPr id="33" name="矩形: 圆角 32"/>
            <p:cNvSpPr/>
            <p:nvPr/>
          </p:nvSpPr>
          <p:spPr>
            <a:xfrm>
              <a:off x="-3601011" y="638175"/>
              <a:ext cx="9950450" cy="5410200"/>
            </a:xfrm>
            <a:prstGeom prst="roundRect">
              <a:avLst>
                <a:gd name="adj" fmla="val 12346"/>
              </a:avLst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3" cstate="screen"/>
            <a:srcRect l="20101" t="12797" r="9965" b="45797"/>
            <a:stretch>
              <a:fillRect/>
            </a:stretch>
          </p:blipFill>
          <p:spPr>
            <a:xfrm>
              <a:off x="5290779" y="5007388"/>
              <a:ext cx="1872656" cy="1088612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-2940611" y="1139825"/>
              <a:ext cx="235902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4 </a:t>
              </a:r>
              <a:r>
                <a:rPr lang="zh-CN" altLang="en-US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数据使用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-2793664" y="2057153"/>
              <a:ext cx="8677275" cy="45599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zh-CN" altLang="en-US" sz="20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           我们以上海图书馆开放数据为基础，利用了开放数据中的武康路数据集，找出武康路上的故居数据，进行了清洗和整理，再次基础上我们完善了一些数据缺失和错乱的地方，然后在网络上找了一些图片，并且参考了书籍</a:t>
              </a:r>
              <a:r>
                <a:rPr lang="en-US" altLang="zh-CN" sz="20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《</a:t>
              </a:r>
              <a:r>
                <a:rPr lang="zh-CN" altLang="en-US" sz="20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初心之地</a:t>
              </a:r>
              <a:r>
                <a:rPr lang="en-US" altLang="zh-CN" sz="20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——</a:t>
              </a:r>
              <a:r>
                <a:rPr lang="zh-CN" altLang="en-US" sz="20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上海红色革命纪念地全纪录</a:t>
              </a:r>
              <a:r>
                <a:rPr lang="en-US" altLang="zh-CN" sz="20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》</a:t>
              </a:r>
              <a:r>
                <a:rPr lang="zh-CN" altLang="en-US" sz="20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。</a:t>
              </a: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-3109595" y="1705610"/>
              <a:ext cx="2295525" cy="0"/>
            </a:xfrm>
            <a:prstGeom prst="line">
              <a:avLst/>
            </a:prstGeom>
            <a:ln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92100" y="6512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04838">
            <a:off x="-1277183" y="-1723939"/>
            <a:ext cx="4040617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-1180742" y="638175"/>
            <a:ext cx="13373026" cy="5956935"/>
            <a:chOff x="-6209591" y="638175"/>
            <a:chExt cx="13373026" cy="5956935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209591" y="857250"/>
              <a:ext cx="5238750" cy="5143500"/>
            </a:xfrm>
            <a:prstGeom prst="rect">
              <a:avLst/>
            </a:prstGeom>
          </p:spPr>
        </p:pic>
        <p:sp>
          <p:nvSpPr>
            <p:cNvPr id="33" name="矩形: 圆角 32"/>
            <p:cNvSpPr/>
            <p:nvPr/>
          </p:nvSpPr>
          <p:spPr>
            <a:xfrm>
              <a:off x="-3601011" y="638175"/>
              <a:ext cx="9950450" cy="5410200"/>
            </a:xfrm>
            <a:prstGeom prst="roundRect">
              <a:avLst>
                <a:gd name="adj" fmla="val 12346"/>
              </a:avLst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B88B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3" cstate="screen"/>
            <a:srcRect l="20101" t="12797" r="9965" b="45797"/>
            <a:stretch>
              <a:fillRect/>
            </a:stretch>
          </p:blipFill>
          <p:spPr>
            <a:xfrm>
              <a:off x="5290779" y="5007388"/>
              <a:ext cx="1872656" cy="1088612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-2940611" y="1139825"/>
              <a:ext cx="259651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5 </a:t>
              </a:r>
              <a:r>
                <a:rPr lang="zh-CN" altLang="en-US" sz="3200" dirty="0">
                  <a:solidFill>
                    <a:srgbClr val="B88B05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创新与意义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-2996491" y="1812925"/>
              <a:ext cx="8732520" cy="478218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zh-CN" sz="2400" dirty="0" err="1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历史文化的深度挖掘与传承</a:t>
              </a:r>
              <a:r>
                <a:rPr lang="zh-CN" altLang="en-US" sz="24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：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武康路，作为“中国历史文化名街”的璀璨明珠，承载着丰富的历史记忆与文化底蕴。本项目致力于深入挖掘这些被岁月雕琢的瑰宝，通过时间轴这一创新形式，系统而生动地展现武康路的历史变迁与重要事件，让每一位访客都能感受到浓厚的历史氛围与文化熏陶。这不仅是对历史的尊重，更是对文化传承的坚定承诺。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zh-CN" altLang="en-US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zh-CN" sz="2400" dirty="0" err="1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旅游体验的革新与升级</a:t>
              </a:r>
              <a:r>
                <a:rPr lang="zh-CN" altLang="en-US" sz="24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：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传统旅游模式已难以满足现代游客对个性化、深度体验的追求。本项目打破了时间与空间的界限，让游客足不出户即可身临其境地游览武康路，感受其独特的建筑美学与人文魅力。这种前所未有的旅游方式，不仅极大地提升了旅游的趣味性和互动性，更让游客在轻松愉悦的氛围中深入了解武康路的历史文化。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zh-CN" altLang="en-US" sz="1600" dirty="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zh-CN" sz="2400" dirty="0" err="1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城市形象的塑造与提升</a:t>
              </a:r>
              <a:r>
                <a:rPr lang="zh-CN" altLang="en-US" sz="24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：</a:t>
              </a:r>
              <a:r>
                <a:rPr lang="zh-CN" altLang="en-US" sz="1600" dirty="0">
                  <a:solidFill>
                    <a:srgbClr val="7B5C03"/>
                  </a:solidFill>
                  <a:latin typeface="Georgia" panose="02040502050405020303" charset="0"/>
                  <a:ea typeface="汉仪中宋简" panose="02010600000101010101" charset="-122"/>
                  <a:cs typeface="+mn-ea"/>
                  <a:sym typeface="+mn-lt"/>
                </a:rPr>
                <a:t>武康路作为上海城市文化的重要组成部分，其形象塑造对于提升上海乃至中国的国际影响力具有重要意义。本项目的实施，不仅凸显了武康路的历史文化特色与独特魅力，更为上海城市形象的塑造增添了一抹亮丽的色彩。通过展示武康路的魅力与活力，我们吸引了更多国内外游客前来游览与体验，进一步推动了上海旅游业的繁荣与发展。</a:t>
              </a: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-3109595" y="1705610"/>
              <a:ext cx="2295525" cy="0"/>
            </a:xfrm>
            <a:prstGeom prst="line">
              <a:avLst/>
            </a:prstGeom>
            <a:ln>
              <a:solidFill>
                <a:srgbClr val="B88B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859382">
            <a:off x="5523032" y="2029105"/>
            <a:ext cx="6405072" cy="6288615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2096770" y="716280"/>
            <a:ext cx="7114540" cy="5165725"/>
          </a:xfrm>
          <a:prstGeom prst="roundRect">
            <a:avLst>
              <a:gd name="adj" fmla="val 50000"/>
            </a:avLst>
          </a:prstGeom>
          <a:blipFill>
            <a:blip r:embed="rId3"/>
            <a:tile tx="0" ty="0" sx="100000" sy="100000" flip="none" algn="tl"/>
          </a:blipFill>
          <a:ln>
            <a:solidFill>
              <a:srgbClr val="B88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776645">
            <a:off x="-2794643" y="-2077786"/>
            <a:ext cx="9715073" cy="9538434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145155" y="1536700"/>
            <a:ext cx="5319395" cy="3363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/>
            <a:r>
              <a:rPr lang="en-US" altLang="zh-CN" sz="2400">
                <a:solidFill>
                  <a:srgbClr val="7B5C03"/>
                </a:solidFill>
                <a:latin typeface="Georgia" panose="02040502050405020303" charset="0"/>
                <a:ea typeface="汉仪中宋简" panose="02010600000101010101" charset="-122"/>
                <a:cs typeface="+mn-ea"/>
                <a:sym typeface="+mn-lt"/>
              </a:rPr>
              <a:t>团队以文化传承与创新为基石,始终将用户体验置于首位。通过精心策划的多媒体内容--包括详尽的历史资料、引人人胜的音频解说等,以及创新的交互设计,构建了一个立体、生动的历史与文化世界。希望游客能够全身心地投入到历史 与文化的探索之中,享受每一次点击带来的惊喜与发现。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211310" y="486410"/>
            <a:ext cx="2750295" cy="3890285"/>
            <a:chOff x="7010" y="1133"/>
            <a:chExt cx="3218" cy="4808"/>
          </a:xfrm>
        </p:grpSpPr>
        <p:sp>
          <p:nvSpPr>
            <p:cNvPr id="4" name="文本框 3"/>
            <p:cNvSpPr txBox="1"/>
            <p:nvPr/>
          </p:nvSpPr>
          <p:spPr>
            <a:xfrm>
              <a:off x="7010" y="1133"/>
              <a:ext cx="1771" cy="1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600">
                  <a:solidFill>
                    <a:srgbClr val="4B4A5A"/>
                  </a:solidFill>
                  <a:latin typeface="华文中宋" panose="02010600040101010101" charset="-122"/>
                  <a:ea typeface="华文中宋" panose="02010600040101010101" charset="-122"/>
                  <a:cs typeface="+mn-ea"/>
                  <a:sym typeface="+mn-lt"/>
                </a:rPr>
                <a:t>团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222" y="2009"/>
              <a:ext cx="1771" cy="1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0">
                  <a:solidFill>
                    <a:srgbClr val="4B4A5A"/>
                  </a:solidFill>
                  <a:latin typeface="华文中宋" panose="02010600040101010101" charset="-122"/>
                  <a:ea typeface="华文中宋" panose="02010600040101010101" charset="-122"/>
                  <a:cs typeface="+mn-ea"/>
                  <a:sym typeface="+mn-lt"/>
                </a:rPr>
                <a:t>队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321" y="3134"/>
              <a:ext cx="1771" cy="1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600">
                  <a:solidFill>
                    <a:srgbClr val="4B4A5A"/>
                  </a:solidFill>
                  <a:latin typeface="华文中宋" panose="02010600040101010101" charset="-122"/>
                  <a:ea typeface="华文中宋" panose="02010600040101010101" charset="-122"/>
                  <a:cs typeface="+mn-ea"/>
                  <a:sym typeface="+mn-lt"/>
                </a:rPr>
                <a:t>理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457" y="4003"/>
              <a:ext cx="1771" cy="1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600">
                  <a:solidFill>
                    <a:srgbClr val="4B4A5A"/>
                  </a:solidFill>
                  <a:latin typeface="华文中宋" panose="02010600040101010101" charset="-122"/>
                  <a:ea typeface="华文中宋" panose="02010600040101010101" charset="-122"/>
                  <a:cs typeface="+mn-ea"/>
                  <a:sym typeface="+mn-lt"/>
                </a:rPr>
                <a:t>念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090" y="1500539"/>
            <a:ext cx="4107387" cy="535746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screen"/>
          <a:srcRect l="20101" t="12797" r="9965" b="16163"/>
          <a:stretch>
            <a:fillRect/>
          </a:stretch>
        </p:blipFill>
        <p:spPr>
          <a:xfrm>
            <a:off x="2120900" y="901700"/>
            <a:ext cx="4838700" cy="4826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screen"/>
          <a:srcRect l="20101" t="12797" r="9965" b="45797"/>
          <a:stretch>
            <a:fillRect/>
          </a:stretch>
        </p:blipFill>
        <p:spPr>
          <a:xfrm>
            <a:off x="7838886" y="2540000"/>
            <a:ext cx="2964802" cy="1723500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2679367" y="2206100"/>
            <a:ext cx="6833265" cy="2057400"/>
          </a:xfrm>
          <a:prstGeom prst="roundRect">
            <a:avLst>
              <a:gd name="adj" fmla="val 12346"/>
            </a:avLst>
          </a:prstGeom>
          <a:blipFill>
            <a:blip r:embed="rId4"/>
            <a:tile tx="0" ty="0" sx="100000" sy="100000" flip="none" algn="tl"/>
          </a:blipFill>
          <a:ln>
            <a:solidFill>
              <a:srgbClr val="B88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79598" y="2449970"/>
            <a:ext cx="6032801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dirty="0">
                <a:solidFill>
                  <a:srgbClr val="B88B05"/>
                </a:solidFill>
                <a:latin typeface="Georgia" panose="02040502050405020303" charset="0"/>
                <a:ea typeface="汉仪劲楷简" panose="00020600040101010101" charset="-122"/>
                <a:cs typeface="+mn-ea"/>
                <a:sym typeface="+mn-lt"/>
              </a:rPr>
              <a:t>谢谢观赏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76442d7-4f2c-43a2-b1f1-755d49057f30"/>
  <p:tag name="FULLTEXTBEAUTIFYED" val="1"/>
  <p:tag name="COMMONDATA" val="eyJoZGlkIjoiODViY2JkMjU3NGYzZTEwMzZmMGFkZWViYmNkYWU3NDI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bsdarjk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934</Words>
  <Application>Microsoft Office PowerPoint</Application>
  <PresentationFormat>宽屏</PresentationFormat>
  <Paragraphs>68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华文中宋</vt:lpstr>
      <vt:lpstr>Arial</vt:lpstr>
      <vt:lpstr>Calibri</vt:lpstr>
      <vt:lpstr>Georgia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精美艺术叶子</dc:title>
  <dc:creator>第一PPT</dc:creator>
  <cp:keywords>www.1ppt.com</cp:keywords>
  <dc:description>www.1ppt.com</dc:description>
  <cp:lastModifiedBy>泽儒 赵</cp:lastModifiedBy>
  <cp:revision>48</cp:revision>
  <dcterms:created xsi:type="dcterms:W3CDTF">2019-10-18T04:43:00Z</dcterms:created>
  <dcterms:modified xsi:type="dcterms:W3CDTF">2024-08-22T02:59:45Z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C6D2E9309E4B43679ABCB300626AD848_13</vt:lpwstr>
  </property>
  <property fmtid="{D5CDD505-2E9C-101B-9397-08002B2CF9AE}" pid="3" name="KSOProductBuildVer">
    <vt:lpwstr>2052-12.1.0.17827</vt:lpwstr>
  </property>
</Properties>
</file>